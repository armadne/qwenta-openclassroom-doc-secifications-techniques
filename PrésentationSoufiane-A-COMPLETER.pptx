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6" r:id="rId9"/>
    <p:sldId id="262" r:id="rId10"/>
    <p:sldId id="268" r:id="rId11"/>
    <p:sldId id="263" r:id="rId12"/>
    <p:sldId id="264" r:id="rId13"/>
    <p:sldId id="265" r:id="rId14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601cdab4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601cdab4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c4033f8d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0c4033f8d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0c4033f8d1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0c4033f8d1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0c4033f8d1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0c4033f8d1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d7bb48e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1cd7bb48e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0c4033f8d1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0c4033f8d1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18b606cc07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18b606cc07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c2bf8da8be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2c2bf8da8be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c2bf8da8be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c2bf8da8be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8dde577b2b48047ae29d50ad8465b6d?v=2e5de577b2b48015906b000c2380cd82&amp;source=copy_li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2392800" y="1537500"/>
            <a:ext cx="42222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PRÉSENTATION</a:t>
            </a:r>
            <a:br>
              <a:rPr lang="fr" sz="3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fr" sz="3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" sz="31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Menu Maker by Qwenta</a:t>
            </a:r>
            <a:endParaRPr sz="31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115175" y="118275"/>
            <a:ext cx="2384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Aroul Madane</a:t>
            </a:r>
            <a:br>
              <a:rPr lang="fr" sz="15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" sz="15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Date </a:t>
            </a:r>
            <a:endParaRPr sz="15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0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Montserrat"/>
                <a:ea typeface="Montserrat"/>
                <a:cs typeface="Montserrat"/>
                <a:sym typeface="Montserrat"/>
              </a:rPr>
              <a:t>Sommaire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Contexte du projet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Aperçu de la maquette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Méthodologie utilisée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Tableau Kanban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Veille technologique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Conclusion 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700"/>
              <a:buFont typeface="Montserrat"/>
              <a:buAutoNum type="arabicPeriod"/>
            </a:pPr>
            <a:r>
              <a:rPr lang="fr" sz="170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endParaRPr sz="170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469525" y="35521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2000" dirty="0">
                <a:latin typeface="Montserrat"/>
                <a:ea typeface="Montserrat"/>
                <a:cs typeface="Montserrat"/>
                <a:sym typeface="Montserrat"/>
              </a:rPr>
              <a:t>Contexte du Projet</a:t>
            </a:r>
            <a:endParaRPr sz="34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153875" y="927918"/>
            <a:ext cx="8320500" cy="4323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fr-FR" sz="1500" i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Qwenta</a:t>
            </a: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 client de l’agence </a:t>
            </a:r>
            <a:r>
              <a:rPr lang="fr-FR" sz="1500" i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Webgencia</a:t>
            </a: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qui souhaite développer un outil appelé Menu </a:t>
            </a:r>
            <a:r>
              <a:rPr lang="fr-FR" sz="1500" i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Maker.Ce</a:t>
            </a: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site a pour objectif de permettre aux restaurateurs de créer, gérer et mettre en forme leurs menus facilement, sans compétences techniques </a:t>
            </a:r>
            <a:r>
              <a:rPr lang="fr-FR" sz="1500" i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particulières.Le</a:t>
            </a: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projet s’inscrit dans une logique de digitalisation des restaurants, en leur offrant une solution simple, rapide et moderne pour présenter leurs menus en ligne.</a:t>
            </a: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endParaRPr lang="fr-FR" sz="15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333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</a:pPr>
            <a:r>
              <a:rPr lang="fr-FR" sz="18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Objectifs : </a:t>
            </a: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endParaRPr lang="fr-FR" sz="15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Offrir une interface claire, intuitive et responsive</a:t>
            </a: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Possibilité d’exporter les menus en PDF</a:t>
            </a: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fr-FR" sz="1500" i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Préparer une architecture technique scalable et sécurisée</a:t>
            </a:r>
          </a:p>
          <a:p>
            <a:pPr marL="1333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</a:pPr>
            <a:endParaRPr lang="fr-FR" sz="15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endParaRPr sz="15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0" name="Google Shape;70;p15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43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fr" sz="2020">
                <a:latin typeface="Montserrat"/>
                <a:ea typeface="Montserrat"/>
                <a:cs typeface="Montserrat"/>
                <a:sym typeface="Montserrat"/>
              </a:rPr>
              <a:t>Aperçu de la maquette</a:t>
            </a:r>
            <a:endParaRPr sz="202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90"/>
              <a:buNone/>
            </a:pPr>
            <a:endParaRPr sz="182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335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None/>
            </a:pPr>
            <a:endParaRPr sz="1500" i="1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4FD1617-94DB-CEEE-0FEA-E312180AE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18" y="782097"/>
            <a:ext cx="6466274" cy="43614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3000" dirty="0">
                <a:latin typeface="Montserrat"/>
                <a:ea typeface="Montserrat"/>
                <a:cs typeface="Montserrat"/>
                <a:sym typeface="Montserrat"/>
              </a:rPr>
              <a:t>Méthodologie utilisée : Agile </a:t>
            </a:r>
            <a:endParaRPr sz="30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600" b="1" dirty="0">
                <a:latin typeface="Montserrat"/>
                <a:ea typeface="Montserrat"/>
                <a:cs typeface="Montserrat"/>
                <a:sym typeface="Montserrat"/>
              </a:rPr>
              <a:t>Présentation de la méthodologie 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Le projet Menu Maker by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Qwenta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est organisé selon une méthodologie Agile, et plus précisément le cadre Scrum.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Cette approche repose sur un développement qui permet d’adapter le produit en continu selon les besoins et les retours.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Le travail est découpé en sprints, chacun livrant une partie fonctionnelle du produit.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Organisation en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sprintsDurée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d’un sprint : 1 à 2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semainesContenu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un ensemble de fonctionnalités priorisées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Objectifs : livrer des fonctionnalités exploitables et valider les contraintes techniques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Chaque sprint comprend : planification (choix des tâches du Kanban)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- Rôles du projet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Product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Owner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définit les priorités fonctionnelles (Soufiane)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Front-end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interface utilisateur, expérience et intégration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Back-end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API, base de données et logique serveur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600" b="1" dirty="0">
                <a:latin typeface="Montserrat"/>
                <a:ea typeface="Montserrat"/>
                <a:cs typeface="Montserrat"/>
                <a:sym typeface="Montserrat"/>
              </a:rPr>
              <a:t>- Avantages de l’approche Agile pour Menu </a:t>
            </a:r>
            <a:r>
              <a:rPr lang="fr-FR" sz="2600" b="1" dirty="0" err="1">
                <a:latin typeface="Montserrat"/>
                <a:ea typeface="Montserrat"/>
                <a:cs typeface="Montserrat"/>
                <a:sym typeface="Montserrat"/>
              </a:rPr>
              <a:t>MakerFlexibilité</a:t>
            </a:r>
            <a:r>
              <a:rPr lang="fr-FR" sz="2600" b="1" dirty="0">
                <a:latin typeface="Montserrat"/>
                <a:ea typeface="Montserrat"/>
                <a:cs typeface="Montserrat"/>
                <a:sym typeface="Montserrat"/>
              </a:rPr>
              <a:t> 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adaptation facile aux changements des besoins du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clientVisibilité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suivi clair de l’avancement via le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KanbanQualité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tests et validations intégrés à chaque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sprintRéduction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des risques : les choix techniques sont validés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progressivemen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tCollaboration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efficace entre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front-end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et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back-end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2000">
                <a:latin typeface="Montserrat"/>
                <a:ea typeface="Montserrat"/>
                <a:cs typeface="Montserrat"/>
                <a:sym typeface="Montserrat"/>
              </a:rPr>
              <a:t>Suivi du projet avec le Kanban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149075" y="912807"/>
            <a:ext cx="8320500" cy="3647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Tableau Kanban </a:t>
            </a: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– Organisation du projet : le tableau Kanban a été réalisé sur Notion et structuré en 4 colonnes : À faire En cours À tester Terminé </a:t>
            </a: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Chaque colonne représente l’état d’avancement des tâches tout au long du projet. </a:t>
            </a: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Des captures d’écran du tableau sont intégrées à cette présentation afin d’illustrer l’organisation globale. </a:t>
            </a: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Explication des User Stories et des tâches </a:t>
            </a: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-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Chaque carte du Kanban correspond à une User Story, rédigée du point de vue de l’utilisateur ou de l’équipe technique.</a:t>
            </a:r>
          </a:p>
        </p:txBody>
      </p:sp>
      <p:sp>
        <p:nvSpPr>
          <p:cNvPr id="95" name="Google Shape;95;p18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67CD23-7242-BAF8-01FE-6FF890A75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Suivi du projet Kanban (</a:t>
            </a:r>
            <a:r>
              <a:rPr lang="fr-FR" dirty="0" err="1"/>
              <a:t>screenshot</a:t>
            </a:r>
            <a:r>
              <a:rPr lang="fr-FR" dirty="0"/>
              <a:t>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EEEA891-A65C-FC80-6FE2-546D9A4B2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12B75A1-0E4D-C031-7610-5F3162A7F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8" y="1152475"/>
            <a:ext cx="8417379" cy="3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2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500CDE-4B82-C9CD-2B41-E5D6CCFD6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Suivi du projet avec le Kanban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4DD253-B351-0FC4-C713-47EC5499F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Chaque carte contient :une User Story claire un assigné (Dev </a:t>
            </a:r>
            <a:r>
              <a:rPr lang="fr-FR" dirty="0" err="1"/>
              <a:t>Front-end</a:t>
            </a:r>
            <a:r>
              <a:rPr lang="fr-FR" dirty="0"/>
              <a:t> / Dev </a:t>
            </a:r>
            <a:r>
              <a:rPr lang="fr-FR" dirty="0" err="1"/>
              <a:t>Back-end</a:t>
            </a:r>
            <a:r>
              <a:rPr lang="fr-FR" dirty="0"/>
              <a:t>) une estimation en story points des critères de succès des spécifications </a:t>
            </a:r>
            <a:r>
              <a:rPr lang="fr-FR" dirty="0" err="1"/>
              <a:t>techniquesune</a:t>
            </a:r>
            <a:r>
              <a:rPr lang="fr-FR" dirty="0"/>
              <a:t> liste de tâches à accomplir </a:t>
            </a:r>
          </a:p>
          <a:p>
            <a:endParaRPr lang="fr-FR" dirty="0"/>
          </a:p>
          <a:p>
            <a:r>
              <a:rPr lang="fr-FR" dirty="0"/>
              <a:t>transformer les besoins fonctionnels en tâches concrètes et réalisable</a:t>
            </a:r>
          </a:p>
          <a:p>
            <a:endParaRPr lang="fr-FR" dirty="0"/>
          </a:p>
          <a:p>
            <a:r>
              <a:rPr lang="fr-FR" dirty="0"/>
              <a:t>Lien vers le Kanban : </a:t>
            </a:r>
            <a:r>
              <a:rPr lang="fr-FR" dirty="0">
                <a:hlinkClick r:id="rId2"/>
              </a:rPr>
              <a:t>https://www.notion.so/18dde577b2b48047ae29d50ad8465b6d?v=2e5de577b2b48015906b000c2380cd82&amp;source=copy_link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2333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1800"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techniques principales: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Front-end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ReactBack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-end : Node.js /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Express.jsBase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de données : MongoDB (NoSQL)Communication : API REST +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AxiosAuthentification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: JSON Web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Token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(JWT)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Sécurité :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HelmetRate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limiting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(protection contre le brute force)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Gestion des données :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MongooseExport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PDF :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jsPDFGestion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de projet : Kanban (Notion)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 technique clé : API REST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L’API REST est le cœur du projet 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- Fonctionnement de l’API REST Le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front-end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envoie une requête(ex : « donne-moi les menus »)L’API Express reçoit et traite la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demandeLa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base de données MongoDB renvoie les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donnéesL’API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renvoie la réponse au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front-end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0" y="0"/>
            <a:ext cx="4911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Présentation de l’usage du no-code</a:t>
            </a:r>
            <a:endParaRPr sz="1000"/>
          </a:p>
        </p:txBody>
      </p:sp>
      <p:sp>
        <p:nvSpPr>
          <p:cNvPr id="105" name="Google Shape;105;p19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5FE4AE-8011-A1A6-CF9B-0E2004EAFC98}"/>
              </a:ext>
            </a:extLst>
          </p:cNvPr>
          <p:cNvSpPr/>
          <p:nvPr/>
        </p:nvSpPr>
        <p:spPr>
          <a:xfrm>
            <a:off x="3486150" y="1308962"/>
            <a:ext cx="2400300" cy="97155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Interface </a:t>
            </a:r>
            <a:r>
              <a:rPr lang="fr-FR" dirty="0" err="1">
                <a:solidFill>
                  <a:schemeClr val="tx1"/>
                </a:solidFill>
              </a:rPr>
              <a:t>React</a:t>
            </a:r>
            <a:r>
              <a:rPr lang="fr-FR" dirty="0">
                <a:solidFill>
                  <a:schemeClr val="tx1"/>
                </a:solidFill>
              </a:rPr>
              <a:t> (</a:t>
            </a:r>
            <a:r>
              <a:rPr lang="fr-FR" dirty="0" err="1">
                <a:solidFill>
                  <a:schemeClr val="tx1"/>
                </a:solidFill>
              </a:rPr>
              <a:t>Front-end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- Axios , envoies requêtes HTTP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(ex: ajout de plat)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96CEF6F-A6FB-5AEA-DB55-5F82F408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Schéma explicatif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822B62A-6056-2D52-1DED-371261BBAA4F}"/>
              </a:ext>
            </a:extLst>
          </p:cNvPr>
          <p:cNvSpPr/>
          <p:nvPr/>
        </p:nvSpPr>
        <p:spPr>
          <a:xfrm>
            <a:off x="3580039" y="69013"/>
            <a:ext cx="1983921" cy="889226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Utilisateur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775D2D-ADAC-ED99-5D4F-C617AC05E48B}"/>
              </a:ext>
            </a:extLst>
          </p:cNvPr>
          <p:cNvSpPr/>
          <p:nvPr/>
        </p:nvSpPr>
        <p:spPr>
          <a:xfrm>
            <a:off x="3486150" y="2571750"/>
            <a:ext cx="2400300" cy="97155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Express JS (</a:t>
            </a:r>
            <a:r>
              <a:rPr lang="fr-FR" dirty="0" err="1">
                <a:solidFill>
                  <a:schemeClr val="tx1"/>
                </a:solidFill>
              </a:rPr>
              <a:t>Back-end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- Réception requête HTTP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Vérif : user connecté 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5BE89-9FD3-4BC2-5307-C81A9A351CF9}"/>
              </a:ext>
            </a:extLst>
          </p:cNvPr>
          <p:cNvSpPr/>
          <p:nvPr/>
        </p:nvSpPr>
        <p:spPr>
          <a:xfrm>
            <a:off x="3486150" y="3894024"/>
            <a:ext cx="2400300" cy="1138989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Database</a:t>
            </a:r>
            <a:r>
              <a:rPr lang="fr-FR" dirty="0">
                <a:solidFill>
                  <a:schemeClr val="tx1"/>
                </a:solidFill>
              </a:rPr>
              <a:t> (MongoDB)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- Enregistrement du plat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- MongoDB renvoie une confirmation au backend</a:t>
            </a:r>
          </a:p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CDBD0B7-7915-B981-D045-59035504667D}"/>
              </a:ext>
            </a:extLst>
          </p:cNvPr>
          <p:cNvSpPr txBox="1"/>
          <p:nvPr/>
        </p:nvSpPr>
        <p:spPr>
          <a:xfrm>
            <a:off x="6515100" y="1902278"/>
            <a:ext cx="271870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Retour vers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Front-end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React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met à jour l’interface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affiche le nouveau plat dans la liste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Le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back-end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renvoie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reponse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JSON :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succés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ou erreur au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front-end</a:t>
            </a: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fr-FR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5B031DF0-5DDD-C347-047B-680EA8D1ED95}"/>
              </a:ext>
            </a:extLst>
          </p:cNvPr>
          <p:cNvCxnSpPr>
            <a:stCxn id="5" idx="4"/>
          </p:cNvCxnSpPr>
          <p:nvPr/>
        </p:nvCxnSpPr>
        <p:spPr>
          <a:xfrm flipH="1">
            <a:off x="4571999" y="958239"/>
            <a:ext cx="1" cy="266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153A763-4EC1-4904-E943-A06A732B5844}"/>
              </a:ext>
            </a:extLst>
          </p:cNvPr>
          <p:cNvCxnSpPr/>
          <p:nvPr/>
        </p:nvCxnSpPr>
        <p:spPr>
          <a:xfrm>
            <a:off x="4571999" y="2302329"/>
            <a:ext cx="0" cy="204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F72DB1E5-7E45-D1AB-A2F4-53CC1074A50B}"/>
              </a:ext>
            </a:extLst>
          </p:cNvPr>
          <p:cNvCxnSpPr/>
          <p:nvPr/>
        </p:nvCxnSpPr>
        <p:spPr>
          <a:xfrm>
            <a:off x="4571999" y="3567793"/>
            <a:ext cx="0" cy="253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41A10510-2812-A5D9-2016-42D92A4E4F51}"/>
              </a:ext>
            </a:extLst>
          </p:cNvPr>
          <p:cNvCxnSpPr>
            <a:cxnSpLocks/>
          </p:cNvCxnSpPr>
          <p:nvPr/>
        </p:nvCxnSpPr>
        <p:spPr>
          <a:xfrm flipV="1">
            <a:off x="5886450" y="3894024"/>
            <a:ext cx="1020536" cy="1004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0BD87B95-8D6C-B3E9-581B-B7599CF20CD9}"/>
              </a:ext>
            </a:extLst>
          </p:cNvPr>
          <p:cNvCxnSpPr>
            <a:cxnSpLocks/>
          </p:cNvCxnSpPr>
          <p:nvPr/>
        </p:nvCxnSpPr>
        <p:spPr>
          <a:xfrm flipH="1" flipV="1">
            <a:off x="6017079" y="1763486"/>
            <a:ext cx="1249135" cy="195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538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2000">
                <a:latin typeface="Montserrat"/>
                <a:ea typeface="Montserrat"/>
                <a:cs typeface="Montserrat"/>
                <a:sym typeface="Montserrat"/>
              </a:rPr>
              <a:t>Veille Technologique</a:t>
            </a:r>
            <a:endParaRPr sz="2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0" y="0"/>
            <a:ext cx="4911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Présentation de l’usage du no-code</a:t>
            </a:r>
            <a:endParaRPr sz="1000"/>
          </a:p>
        </p:txBody>
      </p:sp>
      <p:sp>
        <p:nvSpPr>
          <p:cNvPr id="114" name="Google Shape;114;p20"/>
          <p:cNvSpPr txBox="1"/>
          <p:nvPr/>
        </p:nvSpPr>
        <p:spPr>
          <a:xfrm>
            <a:off x="434775" y="1085525"/>
            <a:ext cx="8320500" cy="24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Captures d’écran de la veille (max 5)</a:t>
            </a:r>
            <a:endParaRPr sz="1500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Méthode de classification des sources d'information.</a:t>
            </a:r>
            <a:endParaRPr sz="1500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Exemple et explication du choix d’une source pour chacun des 2 axes de veille </a:t>
            </a:r>
            <a:endParaRPr sz="1500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500"/>
              <a:buFont typeface="Montserrat"/>
              <a:buChar char="●"/>
            </a:pPr>
            <a:r>
              <a:rPr lang="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Explication de la contribution de la veille à l'élaboration des spécifications techniques.</a:t>
            </a:r>
            <a:endParaRPr sz="1500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5" name="Google Shape;115;p20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2000"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 sz="2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2" name="Google Shape;122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0" y="0"/>
            <a:ext cx="4911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Présentation de l’usage du no-code</a:t>
            </a:r>
            <a:endParaRPr sz="1000"/>
          </a:p>
        </p:txBody>
      </p:sp>
      <p:sp>
        <p:nvSpPr>
          <p:cNvPr id="124" name="Google Shape;124;p21"/>
          <p:cNvSpPr txBox="1"/>
          <p:nvPr/>
        </p:nvSpPr>
        <p:spPr>
          <a:xfrm>
            <a:off x="434775" y="1085525"/>
            <a:ext cx="8320500" cy="10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1800"/>
              <a:buFont typeface="Montserrat"/>
              <a:buChar char="●"/>
            </a:pPr>
            <a:r>
              <a:rPr lang="fr" sz="1500" dirty="0">
                <a:solidFill>
                  <a:srgbClr val="0D0D0D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Résumé des points clés de la présentation</a:t>
            </a:r>
            <a:endParaRPr sz="1800" dirty="0">
              <a:solidFill>
                <a:srgbClr val="0D0D0D"/>
              </a:solidFill>
              <a:highlight>
                <a:srgbClr val="FFFFFF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i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5" name="Google Shape;125;p21"/>
          <p:cNvSpPr/>
          <p:nvPr/>
        </p:nvSpPr>
        <p:spPr>
          <a:xfrm>
            <a:off x="-4800" y="0"/>
            <a:ext cx="9153600" cy="23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7ED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/>
        </p:nvSpPr>
        <p:spPr>
          <a:xfrm>
            <a:off x="2411475" y="2125800"/>
            <a:ext cx="42222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QUESTIONS ?</a:t>
            </a:r>
            <a:endParaRPr sz="3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115175" y="118275"/>
            <a:ext cx="2384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9575" y="-4"/>
            <a:ext cx="674425" cy="34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749</Words>
  <Application>Microsoft Office PowerPoint</Application>
  <PresentationFormat>Affichage à l'écran (16:9)</PresentationFormat>
  <Paragraphs>92</Paragraphs>
  <Slides>13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Montserrat</vt:lpstr>
      <vt:lpstr>Simple Light</vt:lpstr>
      <vt:lpstr>Présentation PowerPoint</vt:lpstr>
      <vt:lpstr>Sommaire</vt:lpstr>
      <vt:lpstr>Contexte du Projet</vt:lpstr>
      <vt:lpstr>Aperçu de la maquette </vt:lpstr>
      <vt:lpstr>Méthodologie utilisée : Agile </vt:lpstr>
      <vt:lpstr>Suivi du projet avec le Kanban</vt:lpstr>
      <vt:lpstr>Suivi du projet Kanban (screenshot)</vt:lpstr>
      <vt:lpstr>Suivi du projet avec le Kanban</vt:lpstr>
      <vt:lpstr>Spécifications techniques</vt:lpstr>
      <vt:lpstr>Schéma explicatif</vt:lpstr>
      <vt:lpstr>Veille Technologique</vt:lpstr>
      <vt:lpstr>Conclusion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Madane AROUL</cp:lastModifiedBy>
  <cp:revision>20</cp:revision>
  <dcterms:modified xsi:type="dcterms:W3CDTF">2026-01-18T14:55:22Z</dcterms:modified>
</cp:coreProperties>
</file>